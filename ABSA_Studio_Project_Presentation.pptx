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</a:defRPr>
            </a:pPr>
            <a:r>
              <a:t>Aspect-Based Sentiment Analysis (ABSA) Studio</a:t>
            </a:r>
          </a:p>
          <a:p>
            <a:pPr algn="l">
              <a:defRPr sz="2200">
                <a:solidFill>
                  <a:srgbClr val="3B82F6"/>
                </a:solidFill>
              </a:defRPr>
            </a:pPr>
            <a:r>
              <a:t>Domain-Specific Fine-Grained Sentiment Extraction Engine &amp;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Executive Overview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Traditional Sentiment Analysis Limitation: </a:t>
            </a:r>
            <a:r>
              <a:rPr sz="1800">
                <a:solidFill>
                  <a:srgbClr val="1E293B"/>
                </a:solidFill>
              </a:rPr>
              <a:t>Overall sentiment scores miss nuanced product aspect feedback (e.g., 'Great food, but terrible service').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The ABSA Advantage: </a:t>
            </a:r>
            <a:r>
              <a:rPr sz="1800">
                <a:solidFill>
                  <a:srgbClr val="1E293B"/>
                </a:solidFill>
              </a:rPr>
              <a:t>Extracts specific entity targets (Aspect Terms) and assigns fine-grained sentiment ratings per aspect category.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Multi-Domain Support: </a:t>
            </a:r>
            <a:r>
              <a:rPr sz="1800">
                <a:solidFill>
                  <a:srgbClr val="1E293B"/>
                </a:solidFill>
              </a:rPr>
              <a:t>Pre-configured taxonomies for Restaurant, Hotel, Tech, and E-Commerce industries.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Interactive Dashboard: </a:t>
            </a:r>
            <a:r>
              <a:rPr sz="1800">
                <a:solidFill>
                  <a:srgbClr val="1E293B"/>
                </a:solidFill>
              </a:rPr>
              <a:t>Real-time web interface supporting single review analysis, batch CSV processing, and custom taxonomy editing.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Technical Architecture &amp; Rule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Lexicon &amp; Modifier Rules: </a:t>
            </a:r>
            <a:r>
              <a:rPr sz="1800">
                <a:solidFill>
                  <a:srgbClr val="1E293B"/>
                </a:solidFill>
              </a:rPr>
              <a:t>Integrates positive/negative sentiment lexicons with contextual amplifiers ('very', 'extremely') and diminishers ('slightly').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Negation Handling: </a:t>
            </a:r>
            <a:r>
              <a:rPr sz="1800">
                <a:solidFill>
                  <a:srgbClr val="1E293B"/>
                </a:solidFill>
              </a:rPr>
              <a:t>Detects negation tokens ('not', 'n't', 'never') within window sizes to flip aspect polarities accurately.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Contrastive Parsing: </a:t>
            </a:r>
            <a:r>
              <a:rPr sz="1800">
                <a:solidFill>
                  <a:srgbClr val="1E293B"/>
                </a:solidFill>
              </a:rPr>
              <a:t>Parses contrast clauses ('but', 'however') to separate opposing aspect sentiments in complex multi-sentence inputs.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Score Normalization: </a:t>
            </a:r>
            <a:r>
              <a:rPr sz="1800">
                <a:solidFill>
                  <a:srgbClr val="1E293B"/>
                </a:solidFill>
              </a:rPr>
              <a:t>Calculates composite aspect polarities (-1.0 to +1.0) and normalizes overall review ratings (0-100 scale).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Aspect Taxonomies &amp; Custom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Restaurant Taxonomy: </a:t>
            </a:r>
            <a:r>
              <a:rPr sz="1800">
                <a:solidFill>
                  <a:srgbClr val="1E293B"/>
                </a:solidFill>
              </a:rPr>
              <a:t>Food quality, Service speed, Staff behavior, Ambience, Price &amp; value, Cleanliness, Drinks.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Hotel Taxonomy: </a:t>
            </a:r>
            <a:r>
              <a:rPr sz="1800">
                <a:solidFill>
                  <a:srgbClr val="1E293B"/>
                </a:solidFill>
              </a:rPr>
              <a:t>Room comfort, Staff service, Location &amp; proximity, Cleanliness, WiFi speed, Amenities.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Tech &amp; Electronics: </a:t>
            </a:r>
            <a:r>
              <a:rPr sz="1800">
                <a:solidFill>
                  <a:srgbClr val="1E293B"/>
                </a:solidFill>
              </a:rPr>
              <a:t>Build quality, Performance/Speed, Battery endurance, Display quality, Camera, Price, Support.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Custom Aspect Builder: </a:t>
            </a:r>
            <a:r>
              <a:rPr sz="1800">
                <a:solidFill>
                  <a:srgbClr val="1E293B"/>
                </a:solidFill>
              </a:rPr>
              <a:t>Allows users to dynamically inject custom aspect terms and keywords into the active extraction dictionary.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Web Studio Features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Single Review Analyzer: </a:t>
            </a:r>
            <a:r>
              <a:rPr sz="1800">
                <a:solidFill>
                  <a:srgbClr val="1E293B"/>
                </a:solidFill>
              </a:rPr>
              <a:t>Instant visual breakdown with sentiment badges, aspect score bars, and highlighted sentence tokens.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Batch CSV Processing: </a:t>
            </a:r>
            <a:r>
              <a:rPr sz="1800">
                <a:solidFill>
                  <a:srgbClr val="1E293B"/>
                </a:solidFill>
              </a:rPr>
              <a:t>Drag-and-drop CSV batch upload with automated aspect extraction and exportable analytics.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Visual Analytics: </a:t>
            </a:r>
            <a:r>
              <a:rPr sz="1800">
                <a:solidFill>
                  <a:srgbClr val="1E293B"/>
                </a:solidFill>
              </a:rPr>
              <a:t>Aggregated aspect sentiment distributions, positive/negative aspect ratios, and domain comparison charts.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Responsive Dark Mode: </a:t>
            </a:r>
            <a:r>
              <a:rPr sz="1800">
                <a:solidFill>
                  <a:srgbClr val="1E293B"/>
                </a:solidFill>
              </a:rPr>
              <a:t>Complete UI dark/light theme switching with local storage state persistence.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Benchmark Evaluation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Extraction Accuracy: </a:t>
            </a:r>
            <a:r>
              <a:rPr sz="1800">
                <a:solidFill>
                  <a:srgbClr val="1E293B"/>
                </a:solidFill>
              </a:rPr>
              <a:t>Achieves high precision on benchmark customer review datasets across multiple test domains.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Sub-Millisecond Speed: </a:t>
            </a:r>
            <a:r>
              <a:rPr sz="1800">
                <a:solidFill>
                  <a:srgbClr val="1E293B"/>
                </a:solidFill>
              </a:rPr>
              <a:t>Client/Server rule-based engine delivers zero-latency aspect extraction in &lt;10ms per review.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Extensibility: </a:t>
            </a:r>
            <a:r>
              <a:rPr sz="1800">
                <a:solidFill>
                  <a:srgbClr val="1E293B"/>
                </a:solidFill>
              </a:rPr>
              <a:t>Designed for seamless API integration with Transformer models (BERT/DeBERTa) for hybrid neural ABSA.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2563EB"/>
                </a:solidFill>
              </a:rPr>
              <a:t>•  Deployment Ready: </a:t>
            </a:r>
            <a:r>
              <a:rPr sz="1800">
                <a:solidFill>
                  <a:srgbClr val="1E293B"/>
                </a:solidFill>
              </a:rPr>
              <a:t>Lightweight Node.js backend server with standalone zero-dependency web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